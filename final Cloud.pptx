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6" r:id="rId8"/>
    <p:sldId id="265" r:id="rId9"/>
    <p:sldId id="267" r:id="rId10"/>
    <p:sldId id="268" r:id="rId11"/>
    <p:sldId id="270" r:id="rId12"/>
    <p:sldId id="271" r:id="rId13"/>
    <p:sldId id="272" r:id="rId14"/>
    <p:sldId id="262" r:id="rId15"/>
    <p:sldId id="263" r:id="rId16"/>
    <p:sldId id="264" r:id="rId17"/>
  </p:sldIdLst>
  <p:sldSz cx="18288000" cy="10287000"/>
  <p:notesSz cx="6858000" cy="9144000"/>
  <p:embeddedFontLst>
    <p:embeddedFont>
      <p:font typeface="Calibri" panose="020F0502020204030204" pitchFamily="34" charset="0"/>
      <p:regular r:id="rId18"/>
      <p:bold r:id="rId19"/>
      <p:italic r:id="rId20"/>
      <p:boldItalic r:id="rId21"/>
    </p:embeddedFont>
    <p:embeddedFont>
      <p:font typeface="Cormorant Garamond Bold Italics" panose="020B0604020202020204" charset="0"/>
      <p:regular r:id="rId22"/>
    </p:embeddedFont>
    <p:embeddedFont>
      <p:font typeface="Quicksand" panose="020B0604020202020204" charset="0"/>
      <p:regular r:id="rId23"/>
    </p:embeddedFont>
    <p:embeddedFont>
      <p:font typeface="Quicksand Bold"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0" d="100"/>
          <a:sy n="50" d="100"/>
        </p:scale>
        <p:origin x="946" y="9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1028700" y="1226823"/>
            <a:ext cx="16229942" cy="4244007"/>
          </a:xfrm>
          <a:prstGeom prst="rect">
            <a:avLst/>
          </a:prstGeom>
        </p:spPr>
        <p:txBody>
          <a:bodyPr lIns="0" tIns="0" rIns="0" bIns="0" rtlCol="0" anchor="t">
            <a:spAutoFit/>
          </a:bodyPr>
          <a:lstStyle/>
          <a:p>
            <a:pPr algn="ctr">
              <a:lnSpc>
                <a:spcPts val="26568"/>
              </a:lnSpc>
            </a:pPr>
            <a:r>
              <a:rPr lang="en-US" sz="18977" b="1" i="1">
                <a:solidFill>
                  <a:srgbClr val="0F4662"/>
                </a:solidFill>
                <a:latin typeface="Cormorant Garamond Bold Italics"/>
                <a:ea typeface="Cormorant Garamond Bold Italics"/>
                <a:cs typeface="Cormorant Garamond Bold Italics"/>
                <a:sym typeface="Cormorant Garamond Bold Italics"/>
              </a:rPr>
              <a:t>Project Title:</a:t>
            </a:r>
          </a:p>
          <a:p>
            <a:pPr marL="0" lvl="0" indent="0" algn="ctr">
              <a:lnSpc>
                <a:spcPts val="6439"/>
              </a:lnSpc>
              <a:spcBef>
                <a:spcPct val="0"/>
              </a:spcBef>
            </a:pPr>
            <a:r>
              <a:rPr lang="en-US" sz="4599" b="1" i="1">
                <a:solidFill>
                  <a:srgbClr val="0F4662"/>
                </a:solidFill>
                <a:latin typeface="Cormorant Garamond Bold Italics"/>
                <a:ea typeface="Cormorant Garamond Bold Italics"/>
                <a:cs typeface="Cormorant Garamond Bold Italics"/>
                <a:sym typeface="Cormorant Garamond Bold Italics"/>
              </a:rPr>
              <a:t> Cloud Based Daily Expense Visualization Dashboard using Microsoft Azure</a:t>
            </a:r>
          </a:p>
        </p:txBody>
      </p:sp>
      <p:sp>
        <p:nvSpPr>
          <p:cNvPr id="3" name="AutoShape 3"/>
          <p:cNvSpPr/>
          <p:nvPr/>
        </p:nvSpPr>
        <p:spPr>
          <a:xfrm>
            <a:off x="9158735" y="990600"/>
            <a:ext cx="8114971" cy="0"/>
          </a:xfrm>
          <a:prstGeom prst="line">
            <a:avLst/>
          </a:prstGeom>
          <a:ln w="76200" cap="flat">
            <a:solidFill>
              <a:srgbClr val="0F4662"/>
            </a:solidFill>
            <a:prstDash val="solid"/>
            <a:headEnd type="none" w="sm" len="sm"/>
            <a:tailEnd type="none" w="sm" len="sm"/>
          </a:ln>
        </p:spPr>
      </p:sp>
      <p:sp>
        <p:nvSpPr>
          <p:cNvPr id="4" name="AutoShape 4"/>
          <p:cNvSpPr/>
          <p:nvPr/>
        </p:nvSpPr>
        <p:spPr>
          <a:xfrm>
            <a:off x="1043764" y="9296400"/>
            <a:ext cx="8114971" cy="0"/>
          </a:xfrm>
          <a:prstGeom prst="line">
            <a:avLst/>
          </a:prstGeom>
          <a:ln w="76200" cap="flat">
            <a:solidFill>
              <a:srgbClr val="0F4662"/>
            </a:solidFill>
            <a:prstDash val="solid"/>
            <a:headEnd type="none" w="sm" len="sm"/>
            <a:tailEnd type="none" w="sm" len="sm"/>
          </a:ln>
        </p:spPr>
      </p:sp>
      <p:sp>
        <p:nvSpPr>
          <p:cNvPr id="5" name="Freeform 5"/>
          <p:cNvSpPr/>
          <p:nvPr/>
        </p:nvSpPr>
        <p:spPr>
          <a:xfrm>
            <a:off x="9618706" y="9037492"/>
            <a:ext cx="2968854" cy="441617"/>
          </a:xfrm>
          <a:custGeom>
            <a:avLst/>
            <a:gdLst/>
            <a:ahLst/>
            <a:cxnLst/>
            <a:rect l="l" t="t" r="r" b="b"/>
            <a:pathLst>
              <a:path w="2968854" h="441617">
                <a:moveTo>
                  <a:pt x="0" y="0"/>
                </a:moveTo>
                <a:lnTo>
                  <a:pt x="2968854" y="0"/>
                </a:lnTo>
                <a:lnTo>
                  <a:pt x="2968854" y="441616"/>
                </a:lnTo>
                <a:lnTo>
                  <a:pt x="0" y="4416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5646742" y="807892"/>
            <a:ext cx="2968854" cy="441617"/>
          </a:xfrm>
          <a:custGeom>
            <a:avLst/>
            <a:gdLst/>
            <a:ahLst/>
            <a:cxnLst/>
            <a:rect l="l" t="t" r="r" b="b"/>
            <a:pathLst>
              <a:path w="2968854" h="441617">
                <a:moveTo>
                  <a:pt x="0" y="0"/>
                </a:moveTo>
                <a:lnTo>
                  <a:pt x="2968854" y="0"/>
                </a:lnTo>
                <a:lnTo>
                  <a:pt x="2968854" y="441616"/>
                </a:lnTo>
                <a:lnTo>
                  <a:pt x="0" y="4416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11981030" y="6299505"/>
            <a:ext cx="5517203" cy="2076451"/>
          </a:xfrm>
          <a:prstGeom prst="rect">
            <a:avLst/>
          </a:prstGeom>
        </p:spPr>
        <p:txBody>
          <a:bodyPr lIns="0" tIns="0" rIns="0" bIns="0" rtlCol="0" anchor="t">
            <a:spAutoFit/>
          </a:bodyPr>
          <a:lstStyle/>
          <a:p>
            <a:pPr algn="l">
              <a:lnSpc>
                <a:spcPts val="4199"/>
              </a:lnSpc>
            </a:pPr>
            <a:r>
              <a:rPr lang="en-US" sz="2999" b="1">
                <a:solidFill>
                  <a:srgbClr val="0F4662"/>
                </a:solidFill>
                <a:latin typeface="Quicksand Bold"/>
                <a:ea typeface="Quicksand Bold"/>
                <a:cs typeface="Quicksand Bold"/>
                <a:sym typeface="Quicksand Bold"/>
              </a:rPr>
              <a:t>TEAM MEMBERS:-</a:t>
            </a:r>
          </a:p>
          <a:p>
            <a:pPr algn="l">
              <a:lnSpc>
                <a:spcPts val="4199"/>
              </a:lnSpc>
            </a:pPr>
            <a:r>
              <a:rPr lang="en-US" sz="2999" b="1">
                <a:solidFill>
                  <a:srgbClr val="0F4662"/>
                </a:solidFill>
                <a:latin typeface="Quicksand Bold"/>
                <a:ea typeface="Quicksand Bold"/>
                <a:cs typeface="Quicksand Bold"/>
                <a:sym typeface="Quicksand Bold"/>
              </a:rPr>
              <a:t>K.Lakshmipriya-2320030453</a:t>
            </a:r>
          </a:p>
          <a:p>
            <a:pPr algn="l">
              <a:lnSpc>
                <a:spcPts val="4199"/>
              </a:lnSpc>
            </a:pPr>
            <a:r>
              <a:rPr lang="en-US" sz="2999" b="1">
                <a:solidFill>
                  <a:srgbClr val="0F4662"/>
                </a:solidFill>
                <a:latin typeface="Quicksand Bold"/>
                <a:ea typeface="Quicksand Bold"/>
                <a:cs typeface="Quicksand Bold"/>
                <a:sym typeface="Quicksand Bold"/>
              </a:rPr>
              <a:t>J.Sree Divya-2320030376</a:t>
            </a:r>
          </a:p>
          <a:p>
            <a:pPr algn="l">
              <a:lnSpc>
                <a:spcPts val="4199"/>
              </a:lnSpc>
              <a:spcBef>
                <a:spcPct val="0"/>
              </a:spcBef>
            </a:pPr>
            <a:r>
              <a:rPr lang="en-US" sz="2999" b="1">
                <a:solidFill>
                  <a:srgbClr val="0F4662"/>
                </a:solidFill>
                <a:latin typeface="Quicksand Bold"/>
                <a:ea typeface="Quicksand Bold"/>
                <a:cs typeface="Quicksand Bold"/>
                <a:sym typeface="Quicksand Bold"/>
              </a:rPr>
              <a:t>P.Vishnu Vardhan-2320030439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2810726" y="3613122"/>
            <a:ext cx="13218082" cy="4622801"/>
          </a:xfrm>
          <a:prstGeom prst="rect">
            <a:avLst/>
          </a:prstGeom>
        </p:spPr>
        <p:txBody>
          <a:bodyPr lIns="0" tIns="0" rIns="0" bIns="0" rtlCol="0" anchor="t">
            <a:spAutoFit/>
          </a:bodyPr>
          <a:lstStyle/>
          <a:p>
            <a:pPr marL="0" lvl="0" indent="0" algn="ctr">
              <a:lnSpc>
                <a:spcPts val="5269"/>
              </a:lnSpc>
            </a:pPr>
            <a:r>
              <a:rPr lang="en-US" sz="3099" b="1">
                <a:solidFill>
                  <a:srgbClr val="0F4662"/>
                </a:solidFill>
                <a:latin typeface="Quicksand Bold"/>
                <a:ea typeface="Quicksand Bold"/>
                <a:cs typeface="Quicksand Bold"/>
                <a:sym typeface="Quicksand Bold"/>
              </a:rPr>
              <a:t>This project develops a Cloud Based Daily Expense Visualization Dashboard to help users track and manage their daily spending easily. Manual expense tracking is often time-consuming and difficult to analyze. The system stores expense data securely in the cloud using Microsoft Azure and presents it through visual dashboards. Users can view their spending patterns in charts and graphs, making financial management simpler and more effective.</a:t>
            </a:r>
          </a:p>
        </p:txBody>
      </p:sp>
      <p:sp>
        <p:nvSpPr>
          <p:cNvPr id="3" name="AutoShape 3"/>
          <p:cNvSpPr/>
          <p:nvPr/>
        </p:nvSpPr>
        <p:spPr>
          <a:xfrm>
            <a:off x="5830743" y="3155922"/>
            <a:ext cx="6492240" cy="0"/>
          </a:xfrm>
          <a:prstGeom prst="line">
            <a:avLst/>
          </a:prstGeom>
          <a:ln w="76200" cap="flat">
            <a:solidFill>
              <a:srgbClr val="0F4662"/>
            </a:solidFill>
            <a:prstDash val="solid"/>
            <a:headEnd type="none" w="sm" len="sm"/>
            <a:tailEnd type="none" w="sm" len="sm"/>
          </a:ln>
        </p:spPr>
      </p:sp>
      <p:sp>
        <p:nvSpPr>
          <p:cNvPr id="4" name="AutoShape 4"/>
          <p:cNvSpPr/>
          <p:nvPr/>
        </p:nvSpPr>
        <p:spPr>
          <a:xfrm>
            <a:off x="5830743" y="8645498"/>
            <a:ext cx="6492240" cy="0"/>
          </a:xfrm>
          <a:prstGeom prst="line">
            <a:avLst/>
          </a:prstGeom>
          <a:ln w="76200" cap="flat">
            <a:solidFill>
              <a:srgbClr val="0F4662"/>
            </a:solidFill>
            <a:prstDash val="solid"/>
            <a:headEnd type="none" w="sm" len="sm"/>
            <a:tailEnd type="none" w="sm" len="sm"/>
          </a:ln>
        </p:spPr>
      </p:sp>
      <p:sp>
        <p:nvSpPr>
          <p:cNvPr id="5" name="Freeform 5"/>
          <p:cNvSpPr/>
          <p:nvPr/>
        </p:nvSpPr>
        <p:spPr>
          <a:xfrm>
            <a:off x="8236864" y="2155759"/>
            <a:ext cx="1679997" cy="249900"/>
          </a:xfrm>
          <a:custGeom>
            <a:avLst/>
            <a:gdLst/>
            <a:ahLst/>
            <a:cxnLst/>
            <a:rect l="l" t="t" r="r" b="b"/>
            <a:pathLst>
              <a:path w="1679997" h="249900">
                <a:moveTo>
                  <a:pt x="0" y="0"/>
                </a:moveTo>
                <a:lnTo>
                  <a:pt x="1679997" y="0"/>
                </a:lnTo>
                <a:lnTo>
                  <a:pt x="1679997" y="249899"/>
                </a:lnTo>
                <a:lnTo>
                  <a:pt x="0" y="2498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1028700" y="580659"/>
            <a:ext cx="8048163" cy="1177329"/>
          </a:xfrm>
          <a:prstGeom prst="rect">
            <a:avLst/>
          </a:prstGeom>
        </p:spPr>
        <p:txBody>
          <a:bodyPr lIns="0" tIns="0" rIns="0" bIns="0" rtlCol="0" anchor="t">
            <a:spAutoFit/>
          </a:bodyPr>
          <a:lstStyle/>
          <a:p>
            <a:pPr marL="0" lvl="0" indent="0" algn="l">
              <a:lnSpc>
                <a:spcPts val="9659"/>
              </a:lnSpc>
              <a:spcBef>
                <a:spcPct val="0"/>
              </a:spcBef>
            </a:pPr>
            <a:r>
              <a:rPr lang="en-US" sz="6899" b="1" i="1">
                <a:solidFill>
                  <a:srgbClr val="0F4662"/>
                </a:solidFill>
                <a:latin typeface="Cormorant Garamond Bold Italics"/>
                <a:ea typeface="Cormorant Garamond Bold Italics"/>
                <a:cs typeface="Cormorant Garamond Bold Italics"/>
                <a:sym typeface="Cormorant Garamond Bold Italics"/>
              </a:rPr>
              <a:t>Introduction</a:t>
            </a:r>
          </a:p>
        </p:txBody>
      </p:sp>
      <p:sp>
        <p:nvSpPr>
          <p:cNvPr id="7" name="Freeform 7"/>
          <p:cNvSpPr/>
          <p:nvPr/>
        </p:nvSpPr>
        <p:spPr>
          <a:xfrm>
            <a:off x="8236864" y="9258300"/>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028700" y="8974931"/>
            <a:ext cx="1905000" cy="283369"/>
          </a:xfrm>
          <a:custGeom>
            <a:avLst/>
            <a:gdLst/>
            <a:ahLst/>
            <a:cxnLst/>
            <a:rect l="l" t="t" r="r" b="b"/>
            <a:pathLst>
              <a:path w="1905000" h="283369">
                <a:moveTo>
                  <a:pt x="0" y="0"/>
                </a:moveTo>
                <a:lnTo>
                  <a:pt x="1905000" y="0"/>
                </a:lnTo>
                <a:lnTo>
                  <a:pt x="1905000" y="283369"/>
                </a:lnTo>
                <a:lnTo>
                  <a:pt x="0" y="2833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028700" y="895350"/>
            <a:ext cx="9390243" cy="1177329"/>
          </a:xfrm>
          <a:prstGeom prst="rect">
            <a:avLst/>
          </a:prstGeom>
        </p:spPr>
        <p:txBody>
          <a:bodyPr lIns="0" tIns="0" rIns="0" bIns="0" rtlCol="0" anchor="t">
            <a:spAutoFit/>
          </a:bodyPr>
          <a:lstStyle/>
          <a:p>
            <a:pPr marL="0" lvl="0" indent="0" algn="l">
              <a:lnSpc>
                <a:spcPts val="9659"/>
              </a:lnSpc>
              <a:spcBef>
                <a:spcPct val="0"/>
              </a:spcBef>
            </a:pPr>
            <a:r>
              <a:rPr lang="en-US" sz="6899" b="1" i="1">
                <a:solidFill>
                  <a:srgbClr val="0F4662"/>
                </a:solidFill>
                <a:latin typeface="Cormorant Garamond Bold Italics"/>
                <a:ea typeface="Cormorant Garamond Bold Italics"/>
                <a:cs typeface="Cormorant Garamond Bold Italics"/>
                <a:sym typeface="Cormorant Garamond Bold Italics"/>
              </a:rPr>
              <a:t>Objectives</a:t>
            </a:r>
          </a:p>
        </p:txBody>
      </p:sp>
      <p:sp>
        <p:nvSpPr>
          <p:cNvPr id="4" name="TextBox 4"/>
          <p:cNvSpPr txBox="1"/>
          <p:nvPr/>
        </p:nvSpPr>
        <p:spPr>
          <a:xfrm>
            <a:off x="514344" y="2755549"/>
            <a:ext cx="15385100" cy="6274025"/>
          </a:xfrm>
          <a:prstGeom prst="rect">
            <a:avLst/>
          </a:prstGeom>
        </p:spPr>
        <p:txBody>
          <a:bodyPr lIns="0" tIns="0" rIns="0" bIns="0" rtlCol="0" anchor="t">
            <a:spAutoFit/>
          </a:bodyPr>
          <a:lstStyle/>
          <a:p>
            <a:pPr marL="786467" lvl="1" indent="-393234" algn="l">
              <a:lnSpc>
                <a:spcPts val="6192"/>
              </a:lnSpc>
              <a:buFont typeface="Arial"/>
              <a:buChar char="•"/>
            </a:pPr>
            <a:r>
              <a:rPr lang="en-US" sz="3642" b="1" dirty="0">
                <a:solidFill>
                  <a:srgbClr val="0F4662"/>
                </a:solidFill>
                <a:latin typeface="Quicksand Bold"/>
                <a:ea typeface="Quicksand Bold"/>
                <a:cs typeface="Quicksand Bold"/>
                <a:sym typeface="Quicksand Bold"/>
              </a:rPr>
              <a:t>To develop a cloud-based system for tracking daily expenses.</a:t>
            </a:r>
          </a:p>
          <a:p>
            <a:pPr marL="786467" lvl="1" indent="-393234" algn="l">
              <a:lnSpc>
                <a:spcPts val="6192"/>
              </a:lnSpc>
              <a:buFont typeface="Arial"/>
              <a:buChar char="•"/>
            </a:pPr>
            <a:r>
              <a:rPr lang="en-US" sz="3642" b="1" dirty="0">
                <a:solidFill>
                  <a:srgbClr val="0F4662"/>
                </a:solidFill>
                <a:latin typeface="Quicksand Bold"/>
                <a:ea typeface="Quicksand Bold"/>
                <a:cs typeface="Quicksand Bold"/>
                <a:sym typeface="Quicksand Bold"/>
              </a:rPr>
              <a:t>To store expense data securely using Microsoft Azure.</a:t>
            </a:r>
          </a:p>
          <a:p>
            <a:pPr marL="786467" lvl="1" indent="-393234" algn="l">
              <a:lnSpc>
                <a:spcPts val="6192"/>
              </a:lnSpc>
              <a:buFont typeface="Arial"/>
              <a:buChar char="•"/>
            </a:pPr>
            <a:r>
              <a:rPr lang="en-US" sz="3642" b="1" dirty="0">
                <a:solidFill>
                  <a:srgbClr val="0F4662"/>
                </a:solidFill>
                <a:latin typeface="Quicksand Bold"/>
                <a:ea typeface="Quicksand Bold"/>
                <a:cs typeface="Quicksand Bold"/>
                <a:sym typeface="Quicksand Bold"/>
              </a:rPr>
              <a:t>To provide real-time access and easy expense entry for users.</a:t>
            </a:r>
          </a:p>
          <a:p>
            <a:pPr marL="786467" lvl="1" indent="-393234" algn="l">
              <a:lnSpc>
                <a:spcPts val="6192"/>
              </a:lnSpc>
              <a:buFont typeface="Arial"/>
              <a:buChar char="•"/>
            </a:pPr>
            <a:r>
              <a:rPr lang="en-US" sz="3642" b="1" dirty="0">
                <a:solidFill>
                  <a:srgbClr val="0F4662"/>
                </a:solidFill>
                <a:latin typeface="Quicksand Bold"/>
                <a:ea typeface="Quicksand Bold"/>
                <a:cs typeface="Quicksand Bold"/>
                <a:sym typeface="Quicksand Bold"/>
              </a:rPr>
              <a:t>To visualize spending patterns through interactive dashboards.</a:t>
            </a:r>
          </a:p>
          <a:p>
            <a:pPr marL="786467" lvl="1" indent="-393234" algn="l">
              <a:lnSpc>
                <a:spcPts val="6192"/>
              </a:lnSpc>
              <a:buFont typeface="Arial"/>
              <a:buChar char="•"/>
            </a:pPr>
            <a:r>
              <a:rPr lang="en-US" sz="3642" b="1" dirty="0">
                <a:solidFill>
                  <a:srgbClr val="0F4662"/>
                </a:solidFill>
                <a:latin typeface="Quicksand Bold"/>
                <a:ea typeface="Quicksand Bold"/>
                <a:cs typeface="Quicksand Bold"/>
                <a:sym typeface="Quicksand Bold"/>
              </a:rPr>
              <a:t>To help users manage budgets and make better financial decisions.</a:t>
            </a:r>
          </a:p>
          <a:p>
            <a:pPr marL="786467" lvl="1" indent="-393234">
              <a:lnSpc>
                <a:spcPts val="6192"/>
              </a:lnSpc>
              <a:buFont typeface="Arial"/>
              <a:buChar char="•"/>
            </a:pPr>
            <a:r>
              <a:rPr lang="en-US" sz="3200" dirty="0">
                <a:solidFill>
                  <a:schemeClr val="tx2">
                    <a:lumMod val="75000"/>
                  </a:schemeClr>
                </a:solidFill>
                <a:latin typeface="Quicksand Bold" panose="020B0604020202020204" charset="0"/>
              </a:rPr>
              <a:t>To develop a web-based platform for easy expense management</a:t>
            </a:r>
            <a:endParaRPr lang="en-US" sz="3200" b="1" dirty="0">
              <a:solidFill>
                <a:schemeClr val="tx2">
                  <a:lumMod val="75000"/>
                </a:schemeClr>
              </a:solidFill>
              <a:latin typeface="Quicksand Bold" panose="020B0604020202020204" charset="0"/>
              <a:ea typeface="Quicksand Bold"/>
              <a:cs typeface="Quicksand Bold"/>
              <a:sym typeface="Quicksand Bold"/>
            </a:endParaRPr>
          </a:p>
          <a:p>
            <a:pPr marL="0" lvl="0" indent="0" algn="l">
              <a:lnSpc>
                <a:spcPts val="6192"/>
              </a:lnSpc>
            </a:pPr>
            <a:endParaRPr lang="en-US" sz="3642" b="1" dirty="0">
              <a:solidFill>
                <a:srgbClr val="0F4662"/>
              </a:solidFill>
              <a:latin typeface="Quicksand Bold"/>
              <a:ea typeface="Quicksand Bold"/>
              <a:cs typeface="Quicksand Bold"/>
              <a:sym typeface="Quicksand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028700" y="8974931"/>
            <a:ext cx="1905000" cy="283369"/>
          </a:xfrm>
          <a:custGeom>
            <a:avLst/>
            <a:gdLst/>
            <a:ahLst/>
            <a:cxnLst/>
            <a:rect l="l" t="t" r="r" b="b"/>
            <a:pathLst>
              <a:path w="1905000" h="283369">
                <a:moveTo>
                  <a:pt x="0" y="0"/>
                </a:moveTo>
                <a:lnTo>
                  <a:pt x="1905000" y="0"/>
                </a:lnTo>
                <a:lnTo>
                  <a:pt x="1905000" y="283369"/>
                </a:lnTo>
                <a:lnTo>
                  <a:pt x="0" y="2833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028700" y="895350"/>
            <a:ext cx="9390243" cy="1177329"/>
          </a:xfrm>
          <a:prstGeom prst="rect">
            <a:avLst/>
          </a:prstGeom>
        </p:spPr>
        <p:txBody>
          <a:bodyPr lIns="0" tIns="0" rIns="0" bIns="0" rtlCol="0" anchor="t">
            <a:spAutoFit/>
          </a:bodyPr>
          <a:lstStyle/>
          <a:p>
            <a:pPr marL="0" lvl="0" indent="0" algn="l">
              <a:lnSpc>
                <a:spcPts val="9659"/>
              </a:lnSpc>
              <a:spcBef>
                <a:spcPct val="0"/>
              </a:spcBef>
            </a:pPr>
            <a:r>
              <a:rPr lang="en-US" sz="6899" b="1" i="1">
                <a:solidFill>
                  <a:srgbClr val="0F4662"/>
                </a:solidFill>
                <a:latin typeface="Cormorant Garamond Bold Italics"/>
                <a:ea typeface="Cormorant Garamond Bold Italics"/>
                <a:cs typeface="Cormorant Garamond Bold Italics"/>
                <a:sym typeface="Cormorant Garamond Bold Italics"/>
              </a:rPr>
              <a:t>Technologies Used</a:t>
            </a:r>
          </a:p>
        </p:txBody>
      </p:sp>
      <p:sp>
        <p:nvSpPr>
          <p:cNvPr id="4" name="TextBox 4"/>
          <p:cNvSpPr txBox="1"/>
          <p:nvPr/>
        </p:nvSpPr>
        <p:spPr>
          <a:xfrm>
            <a:off x="783901" y="2948873"/>
            <a:ext cx="11379114" cy="4924302"/>
          </a:xfrm>
          <a:prstGeom prst="rect">
            <a:avLst/>
          </a:prstGeom>
        </p:spPr>
        <p:txBody>
          <a:bodyPr lIns="0" tIns="0" rIns="0" bIns="0" rtlCol="0" anchor="t">
            <a:spAutoFit/>
          </a:bodyPr>
          <a:lstStyle/>
          <a:p>
            <a:pPr marL="839463" lvl="1" indent="-419732" algn="l">
              <a:lnSpc>
                <a:spcPts val="6609"/>
              </a:lnSpc>
              <a:buFont typeface="Arial"/>
              <a:buChar char="•"/>
            </a:pPr>
            <a:r>
              <a:rPr lang="en-US" sz="3888" b="1">
                <a:solidFill>
                  <a:srgbClr val="0F4662"/>
                </a:solidFill>
                <a:latin typeface="Quicksand Bold"/>
                <a:ea typeface="Quicksand Bold"/>
                <a:cs typeface="Quicksand Bold"/>
                <a:sym typeface="Quicksand Bold"/>
              </a:rPr>
              <a:t>Microsoft Azure (Cloud platform)</a:t>
            </a:r>
          </a:p>
          <a:p>
            <a:pPr marL="839463" lvl="1" indent="-419732" algn="l">
              <a:lnSpc>
                <a:spcPts val="6609"/>
              </a:lnSpc>
              <a:buFont typeface="Arial"/>
              <a:buChar char="•"/>
            </a:pPr>
            <a:r>
              <a:rPr lang="en-US" sz="3888" b="1">
                <a:solidFill>
                  <a:srgbClr val="0F4662"/>
                </a:solidFill>
                <a:latin typeface="Quicksand Bold"/>
                <a:ea typeface="Quicksand Bold"/>
                <a:cs typeface="Quicksand Bold"/>
                <a:sym typeface="Quicksand Bold"/>
              </a:rPr>
              <a:t>Azure SQL Database (Data storage)</a:t>
            </a:r>
          </a:p>
          <a:p>
            <a:pPr marL="839463" lvl="1" indent="-419732" algn="l">
              <a:lnSpc>
                <a:spcPts val="6609"/>
              </a:lnSpc>
              <a:buFont typeface="Arial"/>
              <a:buChar char="•"/>
            </a:pPr>
            <a:r>
              <a:rPr lang="en-US" sz="3888" b="1">
                <a:solidFill>
                  <a:srgbClr val="0F4662"/>
                </a:solidFill>
                <a:latin typeface="Quicksand Bold"/>
                <a:ea typeface="Quicksand Bold"/>
                <a:cs typeface="Quicksand Bold"/>
                <a:sym typeface="Quicksand Bold"/>
              </a:rPr>
              <a:t>Python Flask (Backend API)</a:t>
            </a:r>
          </a:p>
          <a:p>
            <a:pPr marL="839463" lvl="1" indent="-419732" algn="l">
              <a:lnSpc>
                <a:spcPts val="6609"/>
              </a:lnSpc>
              <a:buFont typeface="Arial"/>
              <a:buChar char="•"/>
            </a:pPr>
            <a:r>
              <a:rPr lang="en-US" sz="3888" b="1">
                <a:solidFill>
                  <a:srgbClr val="0F4662"/>
                </a:solidFill>
                <a:latin typeface="Quicksand Bold"/>
                <a:ea typeface="Quicksand Bold"/>
                <a:cs typeface="Quicksand Bold"/>
                <a:sym typeface="Quicksand Bold"/>
              </a:rPr>
              <a:t>Power BI (Data visualization)</a:t>
            </a:r>
          </a:p>
          <a:p>
            <a:pPr marL="839463" lvl="1" indent="-419732" algn="l">
              <a:lnSpc>
                <a:spcPts val="6609"/>
              </a:lnSpc>
              <a:buFont typeface="Arial"/>
              <a:buChar char="•"/>
            </a:pPr>
            <a:r>
              <a:rPr lang="en-US" sz="3888" b="1">
                <a:solidFill>
                  <a:srgbClr val="0F4662"/>
                </a:solidFill>
                <a:latin typeface="Quicksand Bold"/>
                <a:ea typeface="Quicksand Bold"/>
                <a:cs typeface="Quicksand Bold"/>
                <a:sym typeface="Quicksand Bold"/>
              </a:rPr>
              <a:t>HTML / Web Form (User input)</a:t>
            </a:r>
          </a:p>
          <a:p>
            <a:pPr marL="0" lvl="0" indent="0" algn="l">
              <a:lnSpc>
                <a:spcPts val="6609"/>
              </a:lnSpc>
            </a:pPr>
            <a:endParaRPr lang="en-US" sz="3888" b="1">
              <a:solidFill>
                <a:srgbClr val="0F4662"/>
              </a:solidFill>
              <a:latin typeface="Quicksand Bold"/>
              <a:ea typeface="Quicksand Bold"/>
              <a:cs typeface="Quicksand Bold"/>
              <a:sym typeface="Quicksand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AutoShape 2"/>
          <p:cNvSpPr/>
          <p:nvPr/>
        </p:nvSpPr>
        <p:spPr>
          <a:xfrm>
            <a:off x="12072549" y="1803035"/>
            <a:ext cx="4346753" cy="0"/>
          </a:xfrm>
          <a:prstGeom prst="line">
            <a:avLst/>
          </a:prstGeom>
          <a:ln w="57150" cap="flat">
            <a:solidFill>
              <a:srgbClr val="7994A0"/>
            </a:solidFill>
            <a:prstDash val="solid"/>
            <a:headEnd type="none" w="sm" len="sm"/>
            <a:tailEnd type="none" w="sm" len="sm"/>
          </a:ln>
        </p:spPr>
      </p:sp>
      <p:sp>
        <p:nvSpPr>
          <p:cNvPr id="3" name="AutoShape 3"/>
          <p:cNvSpPr/>
          <p:nvPr/>
        </p:nvSpPr>
        <p:spPr>
          <a:xfrm flipV="1">
            <a:off x="1360073" y="8893371"/>
            <a:ext cx="4716390" cy="0"/>
          </a:xfrm>
          <a:prstGeom prst="line">
            <a:avLst/>
          </a:prstGeom>
          <a:ln w="57150" cap="flat">
            <a:solidFill>
              <a:srgbClr val="7994A0"/>
            </a:solidFill>
            <a:prstDash val="solid"/>
            <a:headEnd type="none" w="sm" len="sm"/>
            <a:tailEnd type="none" w="sm" len="sm"/>
          </a:ln>
        </p:spPr>
      </p:sp>
      <p:sp>
        <p:nvSpPr>
          <p:cNvPr id="4" name="TextBox 4"/>
          <p:cNvSpPr txBox="1"/>
          <p:nvPr/>
        </p:nvSpPr>
        <p:spPr>
          <a:xfrm>
            <a:off x="1024384" y="590184"/>
            <a:ext cx="14072064" cy="1184276"/>
          </a:xfrm>
          <a:prstGeom prst="rect">
            <a:avLst/>
          </a:prstGeom>
        </p:spPr>
        <p:txBody>
          <a:bodyPr lIns="0" tIns="0" rIns="0" bIns="0" rtlCol="0" anchor="t">
            <a:spAutoFit/>
          </a:bodyPr>
          <a:lstStyle/>
          <a:p>
            <a:pPr marL="0" lvl="0" indent="0" algn="l">
              <a:lnSpc>
                <a:spcPts val="9799"/>
              </a:lnSpc>
              <a:spcBef>
                <a:spcPct val="0"/>
              </a:spcBef>
            </a:pPr>
            <a:r>
              <a:rPr lang="en-US" sz="6999" b="1" i="1">
                <a:solidFill>
                  <a:srgbClr val="0F4662"/>
                </a:solidFill>
                <a:latin typeface="Cormorant Garamond Bold Italics"/>
                <a:ea typeface="Cormorant Garamond Bold Italics"/>
                <a:cs typeface="Cormorant Garamond Bold Italics"/>
                <a:sym typeface="Cormorant Garamond Bold Italics"/>
              </a:rPr>
              <a:t>Literature Survey</a:t>
            </a:r>
          </a:p>
        </p:txBody>
      </p:sp>
      <p:sp>
        <p:nvSpPr>
          <p:cNvPr id="5" name="TextBox 5"/>
          <p:cNvSpPr txBox="1"/>
          <p:nvPr/>
        </p:nvSpPr>
        <p:spPr>
          <a:xfrm>
            <a:off x="1360073" y="2407389"/>
            <a:ext cx="15059229" cy="5847807"/>
          </a:xfrm>
          <a:prstGeom prst="rect">
            <a:avLst/>
          </a:prstGeom>
        </p:spPr>
        <p:txBody>
          <a:bodyPr lIns="0" tIns="0" rIns="0" bIns="0" rtlCol="0" anchor="t">
            <a:spAutoFit/>
          </a:bodyPr>
          <a:lstStyle/>
          <a:p>
            <a:pPr marL="650524" lvl="1" indent="-325262" algn="just">
              <a:lnSpc>
                <a:spcPts val="4218"/>
              </a:lnSpc>
              <a:buFont typeface="Arial"/>
              <a:buChar char="•"/>
            </a:pPr>
            <a:r>
              <a:rPr lang="en-US" sz="3013" b="1">
                <a:solidFill>
                  <a:srgbClr val="0F4662"/>
                </a:solidFill>
                <a:latin typeface="Quicksand Bold"/>
                <a:ea typeface="Quicksand Bold"/>
                <a:cs typeface="Quicksand Bold"/>
                <a:sym typeface="Quicksand Bold"/>
              </a:rPr>
              <a:t>Many existing solutions are available for expense tracking, such as mobile expense management apps and spreadsheet-based systems. These tools allow users to record daily expenses but often lack advanced data analysis and real-time visualization.</a:t>
            </a:r>
          </a:p>
          <a:p>
            <a:pPr marL="650524" lvl="1" indent="-325262" algn="just">
              <a:lnSpc>
                <a:spcPts val="4218"/>
              </a:lnSpc>
              <a:buFont typeface="Arial"/>
              <a:buChar char="•"/>
            </a:pPr>
            <a:r>
              <a:rPr lang="en-US" sz="3013" b="1">
                <a:solidFill>
                  <a:srgbClr val="0F4662"/>
                </a:solidFill>
                <a:latin typeface="Quicksand Bold"/>
                <a:ea typeface="Quicksand Bold"/>
                <a:cs typeface="Quicksand Bold"/>
                <a:sym typeface="Quicksand Bold"/>
              </a:rPr>
              <a:t>Research shows that cloud-based systems improve data accessibility, storage reliability, and scalability. Data visualization tools like dashboards help users understand spending patterns more effectively.</a:t>
            </a:r>
          </a:p>
          <a:p>
            <a:pPr marL="650524" lvl="1" indent="-325262" algn="just">
              <a:lnSpc>
                <a:spcPts val="4218"/>
              </a:lnSpc>
              <a:buFont typeface="Arial"/>
              <a:buChar char="•"/>
            </a:pPr>
            <a:r>
              <a:rPr lang="en-US" sz="3013" b="1">
                <a:solidFill>
                  <a:srgbClr val="0F4662"/>
                </a:solidFill>
                <a:latin typeface="Quicksand Bold"/>
                <a:ea typeface="Quicksand Bold"/>
                <a:cs typeface="Quicksand Bold"/>
                <a:sym typeface="Quicksand Bold"/>
              </a:rPr>
              <a:t>However, most existing solutions do not fully integrate cloud storage with real-time visualization in a simple and centralized platform. This creates the need for an efficient cloud-based expense tracking system with interactive dashboards</a:t>
            </a:r>
            <a:r>
              <a:rPr lang="en-US" sz="3013">
                <a:solidFill>
                  <a:srgbClr val="0F4662"/>
                </a:solidFill>
                <a:latin typeface="Quicksand"/>
                <a:ea typeface="Quicksand"/>
                <a:cs typeface="Quicksand"/>
                <a:sym typeface="Quicksand"/>
              </a:rPr>
              <a:t>.</a:t>
            </a:r>
          </a:p>
        </p:txBody>
      </p:sp>
      <p:sp>
        <p:nvSpPr>
          <p:cNvPr id="6" name="Freeform 6"/>
          <p:cNvSpPr/>
          <p:nvPr/>
        </p:nvSpPr>
        <p:spPr>
          <a:xfrm>
            <a:off x="15579303" y="71400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1024384" y="9529723"/>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678619" y="599709"/>
            <a:ext cx="5702843" cy="1085215"/>
          </a:xfrm>
          <a:prstGeom prst="rect">
            <a:avLst/>
          </a:prstGeom>
        </p:spPr>
        <p:txBody>
          <a:bodyPr lIns="0" tIns="0" rIns="0" bIns="0" rtlCol="0" anchor="t">
            <a:spAutoFit/>
          </a:bodyPr>
          <a:lstStyle/>
          <a:p>
            <a:pPr marL="0" lvl="0" indent="0" algn="l">
              <a:lnSpc>
                <a:spcPts val="8959"/>
              </a:lnSpc>
              <a:spcBef>
                <a:spcPct val="0"/>
              </a:spcBef>
            </a:pPr>
            <a:r>
              <a:rPr lang="en-US" sz="6399" b="1" i="1">
                <a:solidFill>
                  <a:srgbClr val="0F4662"/>
                </a:solidFill>
                <a:latin typeface="Cormorant Garamond Bold Italics"/>
                <a:ea typeface="Cormorant Garamond Bold Italics"/>
                <a:cs typeface="Cormorant Garamond Bold Italics"/>
                <a:sym typeface="Cormorant Garamond Bold Italics"/>
              </a:rPr>
              <a:t>Methodology</a:t>
            </a:r>
          </a:p>
        </p:txBody>
      </p:sp>
      <p:sp>
        <p:nvSpPr>
          <p:cNvPr id="3" name="TextBox 3"/>
          <p:cNvSpPr txBox="1"/>
          <p:nvPr/>
        </p:nvSpPr>
        <p:spPr>
          <a:xfrm>
            <a:off x="342904" y="1522999"/>
            <a:ext cx="15487622" cy="8024040"/>
          </a:xfrm>
          <a:prstGeom prst="rect">
            <a:avLst/>
          </a:prstGeom>
        </p:spPr>
        <p:txBody>
          <a:bodyPr lIns="0" tIns="0" rIns="0" bIns="0" rtlCol="0" anchor="t">
            <a:spAutoFit/>
          </a:bodyPr>
          <a:lstStyle/>
          <a:p>
            <a:pPr algn="just">
              <a:lnSpc>
                <a:spcPts val="6178"/>
              </a:lnSpc>
            </a:pPr>
            <a:endParaRPr lang="en-IN" dirty="0"/>
          </a:p>
          <a:p>
            <a:pPr marL="760098" lvl="1" indent="-380049" algn="just">
              <a:lnSpc>
                <a:spcPts val="5985"/>
              </a:lnSpc>
              <a:buFont typeface="Arial"/>
              <a:buChar char="•"/>
            </a:pPr>
            <a:r>
              <a:rPr lang="en-US" sz="3520" b="1" dirty="0">
                <a:solidFill>
                  <a:srgbClr val="0F4662"/>
                </a:solidFill>
                <a:latin typeface="Quicksand Bold"/>
                <a:ea typeface="Quicksand Bold"/>
                <a:cs typeface="Quicksand Bold"/>
                <a:sym typeface="Quicksand Bold"/>
              </a:rPr>
              <a:t>User enters expense</a:t>
            </a:r>
          </a:p>
          <a:p>
            <a:pPr algn="just">
              <a:lnSpc>
                <a:spcPts val="5517"/>
              </a:lnSpc>
            </a:pPr>
            <a:r>
              <a:rPr lang="en-US" sz="3245" b="1" dirty="0">
                <a:solidFill>
                  <a:srgbClr val="0F4662"/>
                </a:solidFill>
                <a:latin typeface="Quicksand Bold"/>
                <a:ea typeface="Quicksand Bold"/>
                <a:cs typeface="Quicksand Bold"/>
                <a:sym typeface="Quicksand Bold"/>
              </a:rPr>
              <a:t>    User fills a simple web form (date, category, amount, description).</a:t>
            </a:r>
          </a:p>
          <a:p>
            <a:pPr marL="774349" lvl="1" indent="-387174" algn="just">
              <a:lnSpc>
                <a:spcPts val="6097"/>
              </a:lnSpc>
              <a:buFont typeface="Arial"/>
              <a:buChar char="•"/>
            </a:pPr>
            <a:r>
              <a:rPr lang="en-US" sz="3586" b="1" dirty="0">
                <a:solidFill>
                  <a:srgbClr val="0F4662"/>
                </a:solidFill>
                <a:latin typeface="Quicksand Bold"/>
                <a:ea typeface="Quicksand Bold"/>
                <a:cs typeface="Quicksand Bold"/>
                <a:sym typeface="Quicksand Bold"/>
              </a:rPr>
              <a:t>Web app sends data to backend</a:t>
            </a:r>
          </a:p>
          <a:p>
            <a:pPr algn="just">
              <a:lnSpc>
                <a:spcPts val="5517"/>
              </a:lnSpc>
            </a:pPr>
            <a:r>
              <a:rPr lang="en-US" sz="3245" b="1" dirty="0">
                <a:solidFill>
                  <a:srgbClr val="0F4662"/>
                </a:solidFill>
                <a:latin typeface="Quicksand Bold"/>
                <a:ea typeface="Quicksand Bold"/>
                <a:cs typeface="Quicksand Bold"/>
                <a:sym typeface="Quicksand Bold"/>
              </a:rPr>
              <a:t>    The form sends data to a Python Flask API.</a:t>
            </a:r>
          </a:p>
          <a:p>
            <a:pPr marL="774349" lvl="1" indent="-387174" algn="just">
              <a:lnSpc>
                <a:spcPts val="6097"/>
              </a:lnSpc>
              <a:buFont typeface="Arial"/>
              <a:buChar char="•"/>
            </a:pPr>
            <a:r>
              <a:rPr lang="en-US" sz="3586" b="1" dirty="0">
                <a:solidFill>
                  <a:srgbClr val="0F4662"/>
                </a:solidFill>
                <a:latin typeface="Quicksand Bold"/>
                <a:ea typeface="Quicksand Bold"/>
                <a:cs typeface="Quicksand Bold"/>
                <a:sym typeface="Quicksand Bold"/>
              </a:rPr>
              <a:t> Data stored in Azure cloud database</a:t>
            </a:r>
          </a:p>
          <a:p>
            <a:pPr algn="just">
              <a:lnSpc>
                <a:spcPts val="5517"/>
              </a:lnSpc>
            </a:pPr>
            <a:r>
              <a:rPr lang="en-US" sz="3245" b="1" dirty="0">
                <a:solidFill>
                  <a:srgbClr val="0F4662"/>
                </a:solidFill>
                <a:latin typeface="Quicksand Bold"/>
                <a:ea typeface="Quicksand Bold"/>
                <a:cs typeface="Quicksand Bold"/>
                <a:sym typeface="Quicksand Bold"/>
              </a:rPr>
              <a:t>    Flask stores the expense securely in Azure SQL Database.</a:t>
            </a:r>
          </a:p>
          <a:p>
            <a:pPr marL="774349" lvl="1" indent="-387174" algn="just">
              <a:lnSpc>
                <a:spcPts val="6097"/>
              </a:lnSpc>
              <a:buFont typeface="Arial"/>
              <a:buChar char="•"/>
            </a:pPr>
            <a:r>
              <a:rPr lang="en-US" sz="3586" b="1" dirty="0">
                <a:solidFill>
                  <a:srgbClr val="0F4662"/>
                </a:solidFill>
                <a:latin typeface="Quicksand Bold"/>
                <a:ea typeface="Quicksand Bold"/>
                <a:cs typeface="Quicksand Bold"/>
                <a:sym typeface="Quicksand Bold"/>
              </a:rPr>
              <a:t> Power BI reads data from database</a:t>
            </a:r>
          </a:p>
          <a:p>
            <a:pPr algn="just">
              <a:lnSpc>
                <a:spcPts val="5517"/>
              </a:lnSpc>
            </a:pPr>
            <a:r>
              <a:rPr lang="en-US" sz="3245" b="1" dirty="0">
                <a:solidFill>
                  <a:srgbClr val="0F4662"/>
                </a:solidFill>
                <a:latin typeface="Quicksand Bold"/>
                <a:ea typeface="Quicksand Bold"/>
                <a:cs typeface="Quicksand Bold"/>
                <a:sym typeface="Quicksand Bold"/>
              </a:rPr>
              <a:t>    Power BI connects to Azure SQL and fetches stored data.</a:t>
            </a:r>
          </a:p>
          <a:p>
            <a:pPr marL="774349" lvl="1" indent="-387174" algn="just">
              <a:lnSpc>
                <a:spcPts val="6097"/>
              </a:lnSpc>
              <a:buFont typeface="Arial"/>
              <a:buChar char="•"/>
            </a:pPr>
            <a:r>
              <a:rPr lang="en-US" sz="3586" b="1" dirty="0">
                <a:solidFill>
                  <a:srgbClr val="0F4662"/>
                </a:solidFill>
                <a:latin typeface="Quicksand Bold"/>
                <a:ea typeface="Quicksand Bold"/>
                <a:cs typeface="Quicksand Bold"/>
                <a:sym typeface="Quicksand Bold"/>
              </a:rPr>
              <a:t> Dashboard shows visual insights</a:t>
            </a:r>
          </a:p>
          <a:p>
            <a:pPr algn="just">
              <a:lnSpc>
                <a:spcPts val="5517"/>
              </a:lnSpc>
            </a:pPr>
            <a:r>
              <a:rPr lang="en-US" sz="3245" b="1" dirty="0">
                <a:solidFill>
                  <a:srgbClr val="0F4662"/>
                </a:solidFill>
                <a:latin typeface="Quicksand Bold"/>
                <a:ea typeface="Quicksand Bold"/>
                <a:cs typeface="Quicksand Bold"/>
                <a:sym typeface="Quicksand Bold"/>
              </a:rPr>
              <a:t>     Charts display daily, monthly, and category-wise expenses.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762000" y="495300"/>
            <a:ext cx="13792200" cy="1099019"/>
          </a:xfrm>
          <a:prstGeom prst="rect">
            <a:avLst/>
          </a:prstGeom>
        </p:spPr>
        <p:txBody>
          <a:bodyPr wrap="square" lIns="0" tIns="0" rIns="0" bIns="0" rtlCol="0" anchor="t">
            <a:spAutoFit/>
          </a:bodyPr>
          <a:lstStyle/>
          <a:p>
            <a:pPr marL="0" lvl="0" indent="0" algn="l">
              <a:lnSpc>
                <a:spcPts val="8959"/>
              </a:lnSpc>
              <a:spcBef>
                <a:spcPct val="0"/>
              </a:spcBef>
            </a:pPr>
            <a:r>
              <a:rPr lang="en-US" sz="6399" b="1" i="1" dirty="0">
                <a:solidFill>
                  <a:srgbClr val="0F4662"/>
                </a:solidFill>
                <a:latin typeface="Cormorant Garamond Bold Italics"/>
                <a:ea typeface="Cormorant Garamond Bold Italics"/>
                <a:cs typeface="Cormorant Garamond Bold Italics"/>
                <a:sym typeface="Cormorant Garamond Bold Italics"/>
              </a:rPr>
              <a:t>Azure Database Setup and Table creation    </a:t>
            </a:r>
          </a:p>
        </p:txBody>
      </p:sp>
      <p:pic>
        <p:nvPicPr>
          <p:cNvPr id="5" name="Picture 4">
            <a:extLst>
              <a:ext uri="{FF2B5EF4-FFF2-40B4-BE49-F238E27FC236}">
                <a16:creationId xmlns:a16="http://schemas.microsoft.com/office/drawing/2014/main" id="{7CEB8B68-19D9-4823-925E-934A892107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1120" y="2247900"/>
            <a:ext cx="14554200" cy="7288477"/>
          </a:xfrm>
          <a:prstGeom prst="rect">
            <a:avLst/>
          </a:prstGeom>
        </p:spPr>
      </p:pic>
    </p:spTree>
    <p:extLst>
      <p:ext uri="{BB962C8B-B14F-4D97-AF65-F5344CB8AC3E}">
        <p14:creationId xmlns:p14="http://schemas.microsoft.com/office/powerpoint/2010/main" val="27891265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762000" y="495300"/>
            <a:ext cx="15697200" cy="1099019"/>
          </a:xfrm>
          <a:prstGeom prst="rect">
            <a:avLst/>
          </a:prstGeom>
        </p:spPr>
        <p:txBody>
          <a:bodyPr wrap="square" lIns="0" tIns="0" rIns="0" bIns="0" rtlCol="0" anchor="t">
            <a:spAutoFit/>
          </a:bodyPr>
          <a:lstStyle/>
          <a:p>
            <a:pPr marL="0" lvl="0" indent="0" algn="l">
              <a:lnSpc>
                <a:spcPts val="8959"/>
              </a:lnSpc>
              <a:spcBef>
                <a:spcPct val="0"/>
              </a:spcBef>
            </a:pPr>
            <a:r>
              <a:rPr lang="en-US" sz="6399" b="1" i="1" dirty="0">
                <a:solidFill>
                  <a:srgbClr val="0F4662"/>
                </a:solidFill>
                <a:latin typeface="Cormorant Garamond Bold Italics"/>
                <a:ea typeface="Cormorant Garamond Bold Italics"/>
                <a:cs typeface="Cormorant Garamond Bold Italics"/>
                <a:sym typeface="Cormorant Garamond Bold Italics"/>
              </a:rPr>
              <a:t>Expense data Retrieval and Verification using </a:t>
            </a:r>
            <a:r>
              <a:rPr lang="en-US" sz="6399" b="1" i="1" dirty="0" err="1">
                <a:solidFill>
                  <a:srgbClr val="0F4662"/>
                </a:solidFill>
                <a:latin typeface="Cormorant Garamond Bold Italics"/>
                <a:ea typeface="Cormorant Garamond Bold Italics"/>
                <a:cs typeface="Cormorant Garamond Bold Italics"/>
                <a:sym typeface="Cormorant Garamond Bold Italics"/>
              </a:rPr>
              <a:t>Sql</a:t>
            </a:r>
            <a:r>
              <a:rPr lang="en-US" sz="6399" b="1" i="1" dirty="0">
                <a:solidFill>
                  <a:srgbClr val="0F4662"/>
                </a:solidFill>
                <a:latin typeface="Cormorant Garamond Bold Italics"/>
                <a:ea typeface="Cormorant Garamond Bold Italics"/>
                <a:cs typeface="Cormorant Garamond Bold Italics"/>
                <a:sym typeface="Cormorant Garamond Bold Italics"/>
              </a:rPr>
              <a:t> </a:t>
            </a:r>
          </a:p>
        </p:txBody>
      </p:sp>
      <p:pic>
        <p:nvPicPr>
          <p:cNvPr id="7" name="Picture 6">
            <a:extLst>
              <a:ext uri="{FF2B5EF4-FFF2-40B4-BE49-F238E27FC236}">
                <a16:creationId xmlns:a16="http://schemas.microsoft.com/office/drawing/2014/main" id="{672A2137-92B2-4C20-BF85-12A07E98BB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400" y="2019300"/>
            <a:ext cx="13150678" cy="6996791"/>
          </a:xfrm>
          <a:prstGeom prst="rect">
            <a:avLst/>
          </a:prstGeom>
        </p:spPr>
      </p:pic>
    </p:spTree>
    <p:extLst>
      <p:ext uri="{BB962C8B-B14F-4D97-AF65-F5344CB8AC3E}">
        <p14:creationId xmlns:p14="http://schemas.microsoft.com/office/powerpoint/2010/main" val="792245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762000" y="495300"/>
            <a:ext cx="11963400" cy="1099019"/>
          </a:xfrm>
          <a:prstGeom prst="rect">
            <a:avLst/>
          </a:prstGeom>
        </p:spPr>
        <p:txBody>
          <a:bodyPr wrap="square" lIns="0" tIns="0" rIns="0" bIns="0" rtlCol="0" anchor="t">
            <a:spAutoFit/>
          </a:bodyPr>
          <a:lstStyle/>
          <a:p>
            <a:pPr marL="0" lvl="0" indent="0" algn="l">
              <a:lnSpc>
                <a:spcPts val="8959"/>
              </a:lnSpc>
              <a:spcBef>
                <a:spcPct val="0"/>
              </a:spcBef>
            </a:pPr>
            <a:r>
              <a:rPr lang="en-US" sz="6399" b="1" i="1" dirty="0">
                <a:solidFill>
                  <a:srgbClr val="0F4662"/>
                </a:solidFill>
                <a:latin typeface="Cormorant Garamond Bold Italics"/>
                <a:ea typeface="Cormorant Garamond Bold Italics"/>
                <a:cs typeface="Cormorant Garamond Bold Italics"/>
                <a:sym typeface="Cormorant Garamond Bold Italics"/>
              </a:rPr>
              <a:t>Expense Data Visualization Dashboard </a:t>
            </a:r>
          </a:p>
        </p:txBody>
      </p:sp>
      <p:pic>
        <p:nvPicPr>
          <p:cNvPr id="4" name="Picture 3">
            <a:extLst>
              <a:ext uri="{FF2B5EF4-FFF2-40B4-BE49-F238E27FC236}">
                <a16:creationId xmlns:a16="http://schemas.microsoft.com/office/drawing/2014/main" id="{85E9627C-84B0-4233-8466-7D2478C005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1790700"/>
            <a:ext cx="16230600" cy="7657271"/>
          </a:xfrm>
          <a:prstGeom prst="rect">
            <a:avLst/>
          </a:prstGeom>
        </p:spPr>
      </p:pic>
    </p:spTree>
    <p:extLst>
      <p:ext uri="{BB962C8B-B14F-4D97-AF65-F5344CB8AC3E}">
        <p14:creationId xmlns:p14="http://schemas.microsoft.com/office/powerpoint/2010/main" val="590921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1028700" y="712203"/>
            <a:ext cx="11534821" cy="1177329"/>
          </a:xfrm>
          <a:prstGeom prst="rect">
            <a:avLst/>
          </a:prstGeom>
        </p:spPr>
        <p:txBody>
          <a:bodyPr lIns="0" tIns="0" rIns="0" bIns="0" rtlCol="0" anchor="t">
            <a:spAutoFit/>
          </a:bodyPr>
          <a:lstStyle/>
          <a:p>
            <a:pPr marL="0" lvl="0" indent="0" algn="l">
              <a:lnSpc>
                <a:spcPts val="9659"/>
              </a:lnSpc>
              <a:spcBef>
                <a:spcPct val="0"/>
              </a:spcBef>
            </a:pPr>
            <a:r>
              <a:rPr lang="en-US" sz="6899" b="1" i="1" dirty="0">
                <a:solidFill>
                  <a:srgbClr val="0F4662"/>
                </a:solidFill>
                <a:latin typeface="Cormorant Garamond Bold Italics"/>
                <a:ea typeface="Cormorant Garamond Bold Italics"/>
                <a:cs typeface="Cormorant Garamond Bold Italics"/>
                <a:sym typeface="Cormorant Garamond Bold Italics"/>
              </a:rPr>
              <a:t>Web application Overview:</a:t>
            </a:r>
          </a:p>
        </p:txBody>
      </p:sp>
      <p:sp>
        <p:nvSpPr>
          <p:cNvPr id="3" name="TextBox 3"/>
          <p:cNvSpPr txBox="1"/>
          <p:nvPr/>
        </p:nvSpPr>
        <p:spPr>
          <a:xfrm>
            <a:off x="3429000" y="3830551"/>
            <a:ext cx="11898398" cy="2949141"/>
          </a:xfrm>
          <a:prstGeom prst="rect">
            <a:avLst/>
          </a:prstGeom>
        </p:spPr>
        <p:txBody>
          <a:bodyPr wrap="square" lIns="0" tIns="0" rIns="0" bIns="0" rtlCol="0" anchor="t">
            <a:spAutoFit/>
          </a:bodyPr>
          <a:lstStyle/>
          <a:p>
            <a:pPr algn="ctr">
              <a:lnSpc>
                <a:spcPts val="4666"/>
              </a:lnSpc>
            </a:pPr>
            <a:r>
              <a:rPr lang="en-US" sz="2800" dirty="0">
                <a:solidFill>
                  <a:schemeClr val="tx2">
                    <a:lumMod val="75000"/>
                  </a:schemeClr>
                </a:solidFill>
                <a:latin typeface="Quicksand Bold" panose="020B0604020202020204" charset="0"/>
              </a:rPr>
              <a:t>The system is implemented as a user-friendly web application where users can easily enter and manage their daily expenses. The website provides a simple interface for adding expense details such as date, category, amount, and payment mode. It ensures smooth interaction between the user and the backend system.</a:t>
            </a:r>
            <a:endParaRPr lang="en-US" sz="2744" b="1" dirty="0">
              <a:solidFill>
                <a:schemeClr val="tx2">
                  <a:lumMod val="75000"/>
                </a:schemeClr>
              </a:solidFill>
              <a:latin typeface="Quicksand Bold" panose="020B0604020202020204" charset="0"/>
              <a:ea typeface="Quicksand Bold"/>
              <a:cs typeface="Quicksand Bold"/>
              <a:sym typeface="Quicksand Bold"/>
            </a:endParaRPr>
          </a:p>
        </p:txBody>
      </p:sp>
      <p:sp>
        <p:nvSpPr>
          <p:cNvPr id="4" name="AutoShape 4"/>
          <p:cNvSpPr/>
          <p:nvPr/>
        </p:nvSpPr>
        <p:spPr>
          <a:xfrm>
            <a:off x="5897880" y="3568974"/>
            <a:ext cx="6492240" cy="0"/>
          </a:xfrm>
          <a:prstGeom prst="line">
            <a:avLst/>
          </a:prstGeom>
          <a:ln w="76200" cap="flat">
            <a:solidFill>
              <a:srgbClr val="0F4662"/>
            </a:solidFill>
            <a:prstDash val="solid"/>
            <a:headEnd type="none" w="sm" len="sm"/>
            <a:tailEnd type="none" w="sm" len="sm"/>
          </a:ln>
        </p:spPr>
      </p:sp>
      <p:sp>
        <p:nvSpPr>
          <p:cNvPr id="5" name="AutoShape 5"/>
          <p:cNvSpPr/>
          <p:nvPr/>
        </p:nvSpPr>
        <p:spPr>
          <a:xfrm>
            <a:off x="5897880" y="7399609"/>
            <a:ext cx="6492240" cy="0"/>
          </a:xfrm>
          <a:prstGeom prst="line">
            <a:avLst/>
          </a:prstGeom>
          <a:ln w="76200" cap="flat">
            <a:solidFill>
              <a:srgbClr val="0F4662"/>
            </a:solidFill>
            <a:prstDash val="solid"/>
            <a:headEnd type="none" w="sm" len="sm"/>
            <a:tailEnd type="none" w="sm" len="sm"/>
          </a:ln>
        </p:spPr>
      </p:sp>
      <p:sp>
        <p:nvSpPr>
          <p:cNvPr id="6" name="Freeform 6"/>
          <p:cNvSpPr/>
          <p:nvPr/>
        </p:nvSpPr>
        <p:spPr>
          <a:xfrm>
            <a:off x="8304001" y="2642403"/>
            <a:ext cx="1679997" cy="249900"/>
          </a:xfrm>
          <a:custGeom>
            <a:avLst/>
            <a:gdLst/>
            <a:ahLst/>
            <a:cxnLst/>
            <a:rect l="l" t="t" r="r" b="b"/>
            <a:pathLst>
              <a:path w="1679997" h="249900">
                <a:moveTo>
                  <a:pt x="0" y="0"/>
                </a:moveTo>
                <a:lnTo>
                  <a:pt x="1679998" y="0"/>
                </a:lnTo>
                <a:lnTo>
                  <a:pt x="1679998" y="249899"/>
                </a:lnTo>
                <a:lnTo>
                  <a:pt x="0" y="2498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8304001" y="8019527"/>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extLst>
      <p:ext uri="{BB962C8B-B14F-4D97-AF65-F5344CB8AC3E}">
        <p14:creationId xmlns:p14="http://schemas.microsoft.com/office/powerpoint/2010/main" val="2219463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762000" y="495300"/>
            <a:ext cx="13792200" cy="1099019"/>
          </a:xfrm>
          <a:prstGeom prst="rect">
            <a:avLst/>
          </a:prstGeom>
        </p:spPr>
        <p:txBody>
          <a:bodyPr wrap="square" lIns="0" tIns="0" rIns="0" bIns="0" rtlCol="0" anchor="t">
            <a:spAutoFit/>
          </a:bodyPr>
          <a:lstStyle/>
          <a:p>
            <a:pPr marL="0" lvl="0" indent="0" algn="l">
              <a:lnSpc>
                <a:spcPts val="8959"/>
              </a:lnSpc>
              <a:spcBef>
                <a:spcPct val="0"/>
              </a:spcBef>
            </a:pPr>
            <a:r>
              <a:rPr lang="en-US" sz="6399" b="1" i="1" dirty="0">
                <a:solidFill>
                  <a:srgbClr val="0F4662"/>
                </a:solidFill>
                <a:latin typeface="Cormorant Garamond Bold Italics"/>
                <a:ea typeface="Cormorant Garamond Bold Italics"/>
                <a:cs typeface="Cormorant Garamond Bold Italics"/>
                <a:sym typeface="Cormorant Garamond Bold Italics"/>
              </a:rPr>
              <a:t>Dashboard of the Website</a:t>
            </a:r>
          </a:p>
        </p:txBody>
      </p:sp>
      <p:pic>
        <p:nvPicPr>
          <p:cNvPr id="4" name="Picture 3">
            <a:extLst>
              <a:ext uri="{FF2B5EF4-FFF2-40B4-BE49-F238E27FC236}">
                <a16:creationId xmlns:a16="http://schemas.microsoft.com/office/drawing/2014/main" id="{06387F1B-5B5A-4E26-B632-B068A9A59F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2324100"/>
            <a:ext cx="14820384" cy="6858000"/>
          </a:xfrm>
          <a:prstGeom prst="rect">
            <a:avLst/>
          </a:prstGeom>
        </p:spPr>
      </p:pic>
    </p:spTree>
    <p:extLst>
      <p:ext uri="{BB962C8B-B14F-4D97-AF65-F5344CB8AC3E}">
        <p14:creationId xmlns:p14="http://schemas.microsoft.com/office/powerpoint/2010/main" val="2864597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762000" y="495300"/>
            <a:ext cx="13792200" cy="1099019"/>
          </a:xfrm>
          <a:prstGeom prst="rect">
            <a:avLst/>
          </a:prstGeom>
        </p:spPr>
        <p:txBody>
          <a:bodyPr wrap="square" lIns="0" tIns="0" rIns="0" bIns="0" rtlCol="0" anchor="t">
            <a:spAutoFit/>
          </a:bodyPr>
          <a:lstStyle/>
          <a:p>
            <a:pPr marL="0" lvl="0" indent="0" algn="l">
              <a:lnSpc>
                <a:spcPts val="8959"/>
              </a:lnSpc>
              <a:spcBef>
                <a:spcPct val="0"/>
              </a:spcBef>
            </a:pPr>
            <a:r>
              <a:rPr lang="en-US" sz="6399" b="1" i="1" dirty="0">
                <a:solidFill>
                  <a:srgbClr val="0F4662"/>
                </a:solidFill>
                <a:latin typeface="Cormorant Garamond Bold Italics"/>
                <a:ea typeface="Cormorant Garamond Bold Italics"/>
                <a:cs typeface="Cormorant Garamond Bold Italics"/>
                <a:sym typeface="Cormorant Garamond Bold Italics"/>
              </a:rPr>
              <a:t>We can add Expenses here</a:t>
            </a:r>
          </a:p>
        </p:txBody>
      </p:sp>
      <p:pic>
        <p:nvPicPr>
          <p:cNvPr id="5" name="Picture 4">
            <a:extLst>
              <a:ext uri="{FF2B5EF4-FFF2-40B4-BE49-F238E27FC236}">
                <a16:creationId xmlns:a16="http://schemas.microsoft.com/office/drawing/2014/main" id="{028A7910-F6FA-4AA8-A312-9D7EC8E2B1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7448" y="2247900"/>
            <a:ext cx="15413103" cy="7162800"/>
          </a:xfrm>
          <a:prstGeom prst="rect">
            <a:avLst/>
          </a:prstGeom>
        </p:spPr>
      </p:pic>
    </p:spTree>
    <p:extLst>
      <p:ext uri="{BB962C8B-B14F-4D97-AF65-F5344CB8AC3E}">
        <p14:creationId xmlns:p14="http://schemas.microsoft.com/office/powerpoint/2010/main" val="1999920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F89E7F-FC80-472F-A702-425291A874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0" y="3185160"/>
            <a:ext cx="13396479" cy="6172200"/>
          </a:xfrm>
          <a:prstGeom prst="rect">
            <a:avLst/>
          </a:prstGeom>
        </p:spPr>
      </p:pic>
      <p:sp>
        <p:nvSpPr>
          <p:cNvPr id="6" name="TextBox 5">
            <a:extLst>
              <a:ext uri="{FF2B5EF4-FFF2-40B4-BE49-F238E27FC236}">
                <a16:creationId xmlns:a16="http://schemas.microsoft.com/office/drawing/2014/main" id="{FC36112C-2A31-41C0-AE4B-07164D6CD11B}"/>
              </a:ext>
            </a:extLst>
          </p:cNvPr>
          <p:cNvSpPr txBox="1"/>
          <p:nvPr/>
        </p:nvSpPr>
        <p:spPr>
          <a:xfrm>
            <a:off x="838200" y="952500"/>
            <a:ext cx="15392400" cy="1384995"/>
          </a:xfrm>
          <a:prstGeom prst="rect">
            <a:avLst/>
          </a:prstGeom>
          <a:noFill/>
        </p:spPr>
        <p:txBody>
          <a:bodyPr wrap="square" rtlCol="0">
            <a:spAutoFit/>
          </a:bodyPr>
          <a:lstStyle/>
          <a:p>
            <a:r>
              <a:rPr lang="en-US" sz="2800" dirty="0">
                <a:solidFill>
                  <a:schemeClr val="tx2">
                    <a:lumMod val="75000"/>
                  </a:schemeClr>
                </a:solidFill>
                <a:latin typeface="Quicksand Bold" panose="020B0604020202020204" charset="0"/>
              </a:rPr>
              <a:t>The system includes a smart notification feature that alerts users when their monthly budget limit is exceeded. This helps users stay aware of their spending habits and avoid overspending.</a:t>
            </a:r>
            <a:endParaRPr lang="en-IN" sz="2800" dirty="0">
              <a:solidFill>
                <a:schemeClr val="tx2">
                  <a:lumMod val="75000"/>
                </a:schemeClr>
              </a:solidFill>
              <a:latin typeface="Quicksand Bold" panose="020B0604020202020204" charset="0"/>
            </a:endParaRPr>
          </a:p>
        </p:txBody>
      </p:sp>
    </p:spTree>
    <p:extLst>
      <p:ext uri="{BB962C8B-B14F-4D97-AF65-F5344CB8AC3E}">
        <p14:creationId xmlns:p14="http://schemas.microsoft.com/office/powerpoint/2010/main" val="295310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403474" y="3877061"/>
            <a:ext cx="7497639" cy="3634225"/>
            <a:chOff x="0" y="0"/>
            <a:chExt cx="1101724" cy="534023"/>
          </a:xfrm>
        </p:grpSpPr>
        <p:sp>
          <p:nvSpPr>
            <p:cNvPr id="3" name="Freeform 3"/>
            <p:cNvSpPr/>
            <p:nvPr/>
          </p:nvSpPr>
          <p:spPr>
            <a:xfrm>
              <a:off x="0" y="0"/>
              <a:ext cx="1101724" cy="534023"/>
            </a:xfrm>
            <a:custGeom>
              <a:avLst/>
              <a:gdLst/>
              <a:ahLst/>
              <a:cxnLst/>
              <a:rect l="l" t="t" r="r" b="b"/>
              <a:pathLst>
                <a:path w="1101724" h="534023">
                  <a:moveTo>
                    <a:pt x="23749" y="0"/>
                  </a:moveTo>
                  <a:lnTo>
                    <a:pt x="1077974" y="0"/>
                  </a:lnTo>
                  <a:cubicBezTo>
                    <a:pt x="1091091" y="0"/>
                    <a:pt x="1101724" y="10633"/>
                    <a:pt x="1101724" y="23749"/>
                  </a:cubicBezTo>
                  <a:lnTo>
                    <a:pt x="1101724" y="510274"/>
                  </a:lnTo>
                  <a:cubicBezTo>
                    <a:pt x="1101724" y="523390"/>
                    <a:pt x="1091091" y="534023"/>
                    <a:pt x="1077974" y="534023"/>
                  </a:cubicBezTo>
                  <a:lnTo>
                    <a:pt x="23749" y="534023"/>
                  </a:lnTo>
                  <a:cubicBezTo>
                    <a:pt x="10633" y="534023"/>
                    <a:pt x="0" y="523390"/>
                    <a:pt x="0" y="510274"/>
                  </a:cubicBezTo>
                  <a:lnTo>
                    <a:pt x="0" y="23749"/>
                  </a:lnTo>
                  <a:cubicBezTo>
                    <a:pt x="0" y="10633"/>
                    <a:pt x="10633" y="0"/>
                    <a:pt x="23749" y="0"/>
                  </a:cubicBezTo>
                  <a:close/>
                </a:path>
              </a:pathLst>
            </a:custGeom>
            <a:blipFill>
              <a:blip r:embed="rId2"/>
              <a:stretch>
                <a:fillRect t="-22083" r="-4885" b="-22083"/>
              </a:stretch>
            </a:blipFill>
          </p:spPr>
        </p:sp>
      </p:grpSp>
      <p:grpSp>
        <p:nvGrpSpPr>
          <p:cNvPr id="4" name="Group 4"/>
          <p:cNvGrpSpPr/>
          <p:nvPr/>
        </p:nvGrpSpPr>
        <p:grpSpPr>
          <a:xfrm>
            <a:off x="8415470" y="0"/>
            <a:ext cx="9872530" cy="10287000"/>
            <a:chOff x="0" y="0"/>
            <a:chExt cx="2600172" cy="2709333"/>
          </a:xfrm>
        </p:grpSpPr>
        <p:sp>
          <p:nvSpPr>
            <p:cNvPr id="5" name="Freeform 5"/>
            <p:cNvSpPr/>
            <p:nvPr/>
          </p:nvSpPr>
          <p:spPr>
            <a:xfrm>
              <a:off x="0" y="0"/>
              <a:ext cx="2600172" cy="2709333"/>
            </a:xfrm>
            <a:custGeom>
              <a:avLst/>
              <a:gdLst/>
              <a:ahLst/>
              <a:cxnLst/>
              <a:rect l="l" t="t" r="r" b="b"/>
              <a:pathLst>
                <a:path w="2600172" h="2709333">
                  <a:moveTo>
                    <a:pt x="0" y="0"/>
                  </a:moveTo>
                  <a:lnTo>
                    <a:pt x="2600172" y="0"/>
                  </a:lnTo>
                  <a:lnTo>
                    <a:pt x="2600172" y="2709333"/>
                  </a:lnTo>
                  <a:lnTo>
                    <a:pt x="0" y="2709333"/>
                  </a:lnTo>
                  <a:close/>
                </a:path>
              </a:pathLst>
            </a:custGeom>
            <a:solidFill>
              <a:srgbClr val="DBE5EA"/>
            </a:solidFill>
          </p:spPr>
        </p:sp>
        <p:sp>
          <p:nvSpPr>
            <p:cNvPr id="6" name="TextBox 6"/>
            <p:cNvSpPr txBox="1"/>
            <p:nvPr/>
          </p:nvSpPr>
          <p:spPr>
            <a:xfrm>
              <a:off x="0" y="-123825"/>
              <a:ext cx="2600172" cy="2833158"/>
            </a:xfrm>
            <a:prstGeom prst="rect">
              <a:avLst/>
            </a:prstGeom>
          </p:spPr>
          <p:txBody>
            <a:bodyPr lIns="50800" tIns="50800" rIns="50800" bIns="50800" rtlCol="0" anchor="ctr"/>
            <a:lstStyle/>
            <a:p>
              <a:pPr algn="ctr">
                <a:lnSpc>
                  <a:spcPts val="4079"/>
                </a:lnSpc>
              </a:pPr>
              <a:endParaRPr/>
            </a:p>
          </p:txBody>
        </p:sp>
      </p:grpSp>
      <p:sp>
        <p:nvSpPr>
          <p:cNvPr id="7" name="AutoShape 7"/>
          <p:cNvSpPr/>
          <p:nvPr/>
        </p:nvSpPr>
        <p:spPr>
          <a:xfrm>
            <a:off x="1028700" y="9741523"/>
            <a:ext cx="6492240" cy="0"/>
          </a:xfrm>
          <a:prstGeom prst="line">
            <a:avLst/>
          </a:prstGeom>
          <a:ln w="76200" cap="flat">
            <a:solidFill>
              <a:srgbClr val="0F4662"/>
            </a:solidFill>
            <a:prstDash val="solid"/>
            <a:headEnd type="none" w="sm" len="sm"/>
            <a:tailEnd type="none" w="sm" len="sm"/>
          </a:ln>
        </p:spPr>
      </p:sp>
      <p:sp>
        <p:nvSpPr>
          <p:cNvPr id="8" name="AutoShape 8"/>
          <p:cNvSpPr/>
          <p:nvPr/>
        </p:nvSpPr>
        <p:spPr>
          <a:xfrm>
            <a:off x="10509449" y="1028700"/>
            <a:ext cx="6492240" cy="0"/>
          </a:xfrm>
          <a:prstGeom prst="line">
            <a:avLst/>
          </a:prstGeom>
          <a:ln w="76200" cap="flat">
            <a:solidFill>
              <a:srgbClr val="0F4662"/>
            </a:solidFill>
            <a:prstDash val="solid"/>
            <a:headEnd type="none" w="sm" len="sm"/>
            <a:tailEnd type="none" w="sm" len="sm"/>
          </a:ln>
        </p:spPr>
      </p:sp>
      <p:sp>
        <p:nvSpPr>
          <p:cNvPr id="9" name="TextBox 9"/>
          <p:cNvSpPr txBox="1"/>
          <p:nvPr/>
        </p:nvSpPr>
        <p:spPr>
          <a:xfrm>
            <a:off x="1028701" y="599709"/>
            <a:ext cx="5219700" cy="1099019"/>
          </a:xfrm>
          <a:prstGeom prst="rect">
            <a:avLst/>
          </a:prstGeom>
        </p:spPr>
        <p:txBody>
          <a:bodyPr wrap="square" lIns="0" tIns="0" rIns="0" bIns="0" rtlCol="0" anchor="t">
            <a:spAutoFit/>
          </a:bodyPr>
          <a:lstStyle/>
          <a:p>
            <a:pPr marL="0" lvl="0" indent="0" algn="l">
              <a:lnSpc>
                <a:spcPts val="8959"/>
              </a:lnSpc>
              <a:spcBef>
                <a:spcPct val="0"/>
              </a:spcBef>
            </a:pPr>
            <a:r>
              <a:rPr lang="en-US" sz="6399" b="1" i="1" dirty="0">
                <a:solidFill>
                  <a:srgbClr val="0F4662"/>
                </a:solidFill>
                <a:latin typeface="Cormorant Garamond Bold Italics"/>
                <a:ea typeface="Cormorant Garamond Bold Italics"/>
                <a:cs typeface="Cormorant Garamond Bold Italics"/>
                <a:sym typeface="Cormorant Garamond Bold Italics"/>
              </a:rPr>
              <a:t> Final Outcome</a:t>
            </a:r>
          </a:p>
        </p:txBody>
      </p:sp>
      <p:sp>
        <p:nvSpPr>
          <p:cNvPr id="10" name="AutoShape 10"/>
          <p:cNvSpPr/>
          <p:nvPr/>
        </p:nvSpPr>
        <p:spPr>
          <a:xfrm>
            <a:off x="10509449" y="9296400"/>
            <a:ext cx="6492240" cy="0"/>
          </a:xfrm>
          <a:prstGeom prst="line">
            <a:avLst/>
          </a:prstGeom>
          <a:ln w="76200" cap="flat">
            <a:solidFill>
              <a:srgbClr val="0F4662"/>
            </a:solidFill>
            <a:prstDash val="solid"/>
            <a:headEnd type="none" w="sm" len="sm"/>
            <a:tailEnd type="none" w="sm" len="sm"/>
          </a:ln>
        </p:spPr>
      </p:sp>
      <p:sp>
        <p:nvSpPr>
          <p:cNvPr id="11" name="TextBox 11"/>
          <p:cNvSpPr txBox="1"/>
          <p:nvPr/>
        </p:nvSpPr>
        <p:spPr>
          <a:xfrm>
            <a:off x="9285406" y="1774824"/>
            <a:ext cx="8132659" cy="6623052"/>
          </a:xfrm>
          <a:prstGeom prst="rect">
            <a:avLst/>
          </a:prstGeom>
        </p:spPr>
        <p:txBody>
          <a:bodyPr lIns="0" tIns="0" rIns="0" bIns="0" rtlCol="0" anchor="t">
            <a:spAutoFit/>
          </a:bodyPr>
          <a:lstStyle/>
          <a:p>
            <a:pPr marL="669286" lvl="1" indent="-334643" algn="l">
              <a:lnSpc>
                <a:spcPts val="5269"/>
              </a:lnSpc>
              <a:buFont typeface="Arial"/>
              <a:buChar char="•"/>
            </a:pPr>
            <a:r>
              <a:rPr lang="en-US" sz="3099" b="1">
                <a:solidFill>
                  <a:srgbClr val="0F4662"/>
                </a:solidFill>
                <a:latin typeface="Quicksand Bold"/>
                <a:ea typeface="Quicksand Bold"/>
                <a:cs typeface="Quicksand Bold"/>
                <a:sym typeface="Quicksand Bold"/>
              </a:rPr>
              <a:t>A fully functional cloud-based expense tracking system.</a:t>
            </a:r>
          </a:p>
          <a:p>
            <a:pPr marL="669286" lvl="1" indent="-334643" algn="l">
              <a:lnSpc>
                <a:spcPts val="5269"/>
              </a:lnSpc>
              <a:buFont typeface="Arial"/>
              <a:buChar char="•"/>
            </a:pPr>
            <a:r>
              <a:rPr lang="en-US" sz="3099" b="1">
                <a:solidFill>
                  <a:srgbClr val="0F4662"/>
                </a:solidFill>
                <a:latin typeface="Quicksand Bold"/>
                <a:ea typeface="Quicksand Bold"/>
                <a:cs typeface="Quicksand Bold"/>
                <a:sym typeface="Quicksand Bold"/>
              </a:rPr>
              <a:t>Secure storage of daily expense data using Microsoft Azure.</a:t>
            </a:r>
          </a:p>
          <a:p>
            <a:pPr marL="669286" lvl="1" indent="-334643" algn="l">
              <a:lnSpc>
                <a:spcPts val="5269"/>
              </a:lnSpc>
              <a:buFont typeface="Arial"/>
              <a:buChar char="•"/>
            </a:pPr>
            <a:r>
              <a:rPr lang="en-US" sz="3099" b="1">
                <a:solidFill>
                  <a:srgbClr val="0F4662"/>
                </a:solidFill>
                <a:latin typeface="Quicksand Bold"/>
                <a:ea typeface="Quicksand Bold"/>
                <a:cs typeface="Quicksand Bold"/>
                <a:sym typeface="Quicksand Bold"/>
              </a:rPr>
              <a:t>Real-time visualization of spending through interactive dashboards.</a:t>
            </a:r>
          </a:p>
          <a:p>
            <a:pPr marL="669286" lvl="1" indent="-334643" algn="l">
              <a:lnSpc>
                <a:spcPts val="5269"/>
              </a:lnSpc>
              <a:buFont typeface="Arial"/>
              <a:buChar char="•"/>
            </a:pPr>
            <a:r>
              <a:rPr lang="en-US" sz="3099" b="1">
                <a:solidFill>
                  <a:srgbClr val="0F4662"/>
                </a:solidFill>
                <a:latin typeface="Quicksand Bold"/>
                <a:ea typeface="Quicksand Bold"/>
                <a:cs typeface="Quicksand Bold"/>
                <a:sym typeface="Quicksand Bold"/>
              </a:rPr>
              <a:t>Clear insights into daily, monthly, and category-wise expenses.</a:t>
            </a:r>
          </a:p>
          <a:p>
            <a:pPr marL="669286" lvl="1" indent="-334643" algn="l">
              <a:lnSpc>
                <a:spcPts val="5269"/>
              </a:lnSpc>
              <a:spcBef>
                <a:spcPct val="0"/>
              </a:spcBef>
              <a:buFont typeface="Arial"/>
              <a:buChar char="•"/>
            </a:pPr>
            <a:r>
              <a:rPr lang="en-US" sz="3099" b="1">
                <a:solidFill>
                  <a:srgbClr val="0F4662"/>
                </a:solidFill>
                <a:latin typeface="Quicksand Bold"/>
                <a:ea typeface="Quicksand Bold"/>
                <a:cs typeface="Quicksand Bold"/>
                <a:sym typeface="Quicksand Bold"/>
              </a:rPr>
              <a:t>Improved financial awareness and better decision-making for users.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1028700" y="712203"/>
            <a:ext cx="11534821" cy="1177329"/>
          </a:xfrm>
          <a:prstGeom prst="rect">
            <a:avLst/>
          </a:prstGeom>
        </p:spPr>
        <p:txBody>
          <a:bodyPr lIns="0" tIns="0" rIns="0" bIns="0" rtlCol="0" anchor="t">
            <a:spAutoFit/>
          </a:bodyPr>
          <a:lstStyle/>
          <a:p>
            <a:pPr marL="0" lvl="0" indent="0" algn="l">
              <a:lnSpc>
                <a:spcPts val="9659"/>
              </a:lnSpc>
              <a:spcBef>
                <a:spcPct val="0"/>
              </a:spcBef>
            </a:pPr>
            <a:r>
              <a:rPr lang="en-US" sz="6899" b="1" i="1">
                <a:solidFill>
                  <a:srgbClr val="0F4662"/>
                </a:solidFill>
                <a:latin typeface="Cormorant Garamond Bold Italics"/>
                <a:ea typeface="Cormorant Garamond Bold Italics"/>
                <a:cs typeface="Cormorant Garamond Bold Italics"/>
                <a:sym typeface="Cormorant Garamond Bold Italics"/>
              </a:rPr>
              <a:t>Conclusion</a:t>
            </a:r>
          </a:p>
        </p:txBody>
      </p:sp>
      <p:sp>
        <p:nvSpPr>
          <p:cNvPr id="3" name="TextBox 3"/>
          <p:cNvSpPr txBox="1"/>
          <p:nvPr/>
        </p:nvSpPr>
        <p:spPr>
          <a:xfrm>
            <a:off x="3570202" y="3666555"/>
            <a:ext cx="11730532" cy="3502124"/>
          </a:xfrm>
          <a:prstGeom prst="rect">
            <a:avLst/>
          </a:prstGeom>
        </p:spPr>
        <p:txBody>
          <a:bodyPr lIns="0" tIns="0" rIns="0" bIns="0" rtlCol="0" anchor="t">
            <a:spAutoFit/>
          </a:bodyPr>
          <a:lstStyle/>
          <a:p>
            <a:pPr algn="ctr">
              <a:lnSpc>
                <a:spcPts val="4666"/>
              </a:lnSpc>
            </a:pPr>
            <a:r>
              <a:rPr lang="en-US" sz="2744" b="1">
                <a:solidFill>
                  <a:srgbClr val="0F4662"/>
                </a:solidFill>
                <a:latin typeface="Quicksand Bold"/>
                <a:ea typeface="Quicksand Bold"/>
                <a:cs typeface="Quicksand Bold"/>
                <a:sym typeface="Quicksand Bold"/>
              </a:rPr>
              <a:t>This project develops a cloud-based system to track and visualize daily expenses using Microsoft Azure and Power BI. It provides secure storage, real-time insights, and clear visual analysis of spending patterns. Overall, it simplifies financial management and supports better decision-making.</a:t>
            </a:r>
          </a:p>
          <a:p>
            <a:pPr marL="0" lvl="0" indent="0" algn="ctr">
              <a:lnSpc>
                <a:spcPts val="4666"/>
              </a:lnSpc>
            </a:pPr>
            <a:endParaRPr lang="en-US" sz="2744" b="1">
              <a:solidFill>
                <a:srgbClr val="0F4662"/>
              </a:solidFill>
              <a:latin typeface="Quicksand Bold"/>
              <a:ea typeface="Quicksand Bold"/>
              <a:cs typeface="Quicksand Bold"/>
              <a:sym typeface="Quicksand Bold"/>
            </a:endParaRPr>
          </a:p>
        </p:txBody>
      </p:sp>
      <p:sp>
        <p:nvSpPr>
          <p:cNvPr id="4" name="AutoShape 4"/>
          <p:cNvSpPr/>
          <p:nvPr/>
        </p:nvSpPr>
        <p:spPr>
          <a:xfrm>
            <a:off x="5897880" y="3568974"/>
            <a:ext cx="6492240" cy="0"/>
          </a:xfrm>
          <a:prstGeom prst="line">
            <a:avLst/>
          </a:prstGeom>
          <a:ln w="76200" cap="flat">
            <a:solidFill>
              <a:srgbClr val="0F4662"/>
            </a:solidFill>
            <a:prstDash val="solid"/>
            <a:headEnd type="none" w="sm" len="sm"/>
            <a:tailEnd type="none" w="sm" len="sm"/>
          </a:ln>
        </p:spPr>
      </p:sp>
      <p:sp>
        <p:nvSpPr>
          <p:cNvPr id="5" name="AutoShape 5"/>
          <p:cNvSpPr/>
          <p:nvPr/>
        </p:nvSpPr>
        <p:spPr>
          <a:xfrm>
            <a:off x="5897880" y="7399609"/>
            <a:ext cx="6492240" cy="0"/>
          </a:xfrm>
          <a:prstGeom prst="line">
            <a:avLst/>
          </a:prstGeom>
          <a:ln w="76200" cap="flat">
            <a:solidFill>
              <a:srgbClr val="0F4662"/>
            </a:solidFill>
            <a:prstDash val="solid"/>
            <a:headEnd type="none" w="sm" len="sm"/>
            <a:tailEnd type="none" w="sm" len="sm"/>
          </a:ln>
        </p:spPr>
      </p:sp>
      <p:sp>
        <p:nvSpPr>
          <p:cNvPr id="6" name="Freeform 6"/>
          <p:cNvSpPr/>
          <p:nvPr/>
        </p:nvSpPr>
        <p:spPr>
          <a:xfrm>
            <a:off x="8304001" y="2470557"/>
            <a:ext cx="1679997" cy="249900"/>
          </a:xfrm>
          <a:custGeom>
            <a:avLst/>
            <a:gdLst/>
            <a:ahLst/>
            <a:cxnLst/>
            <a:rect l="l" t="t" r="r" b="b"/>
            <a:pathLst>
              <a:path w="1679997" h="249900">
                <a:moveTo>
                  <a:pt x="0" y="0"/>
                </a:moveTo>
                <a:lnTo>
                  <a:pt x="1679998" y="0"/>
                </a:lnTo>
                <a:lnTo>
                  <a:pt x="1679998" y="249899"/>
                </a:lnTo>
                <a:lnTo>
                  <a:pt x="0" y="2498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8304001" y="8019527"/>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3442710" y="3369664"/>
            <a:ext cx="11402580" cy="3185722"/>
          </a:xfrm>
          <a:prstGeom prst="rect">
            <a:avLst/>
          </a:prstGeom>
        </p:spPr>
        <p:txBody>
          <a:bodyPr lIns="0" tIns="0" rIns="0" bIns="0" rtlCol="0" anchor="t">
            <a:spAutoFit/>
          </a:bodyPr>
          <a:lstStyle/>
          <a:p>
            <a:pPr marL="0" lvl="0" indent="0" algn="ctr">
              <a:lnSpc>
                <a:spcPts val="26009"/>
              </a:lnSpc>
              <a:spcBef>
                <a:spcPct val="0"/>
              </a:spcBef>
            </a:pPr>
            <a:r>
              <a:rPr lang="en-US" sz="18577" b="1" i="1">
                <a:solidFill>
                  <a:srgbClr val="0F4662"/>
                </a:solidFill>
                <a:latin typeface="Cormorant Garamond Bold Italics"/>
                <a:ea typeface="Cormorant Garamond Bold Italics"/>
                <a:cs typeface="Cormorant Garamond Bold Italics"/>
                <a:sym typeface="Cormorant Garamond Bold Italics"/>
              </a:rPr>
              <a:t>Thank you</a:t>
            </a:r>
          </a:p>
        </p:txBody>
      </p:sp>
      <p:sp>
        <p:nvSpPr>
          <p:cNvPr id="3" name="AutoShape 3"/>
          <p:cNvSpPr/>
          <p:nvPr/>
        </p:nvSpPr>
        <p:spPr>
          <a:xfrm>
            <a:off x="5897880" y="2215083"/>
            <a:ext cx="6492240" cy="0"/>
          </a:xfrm>
          <a:prstGeom prst="line">
            <a:avLst/>
          </a:prstGeom>
          <a:ln w="76200" cap="flat">
            <a:solidFill>
              <a:srgbClr val="0F4662"/>
            </a:solidFill>
            <a:prstDash val="solid"/>
            <a:headEnd type="none" w="sm" len="sm"/>
            <a:tailEnd type="none" w="sm" len="sm"/>
          </a:ln>
        </p:spPr>
      </p:sp>
      <p:sp>
        <p:nvSpPr>
          <p:cNvPr id="4" name="Freeform 4"/>
          <p:cNvSpPr/>
          <p:nvPr/>
        </p:nvSpPr>
        <p:spPr>
          <a:xfrm>
            <a:off x="8304001" y="1116666"/>
            <a:ext cx="1679997" cy="249900"/>
          </a:xfrm>
          <a:custGeom>
            <a:avLst/>
            <a:gdLst/>
            <a:ahLst/>
            <a:cxnLst/>
            <a:rect l="l" t="t" r="r" b="b"/>
            <a:pathLst>
              <a:path w="1679997" h="249900">
                <a:moveTo>
                  <a:pt x="0" y="0"/>
                </a:moveTo>
                <a:lnTo>
                  <a:pt x="1679998" y="0"/>
                </a:lnTo>
                <a:lnTo>
                  <a:pt x="1679998" y="249899"/>
                </a:lnTo>
                <a:lnTo>
                  <a:pt x="0" y="2498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AutoShape 5"/>
          <p:cNvSpPr/>
          <p:nvPr/>
        </p:nvSpPr>
        <p:spPr>
          <a:xfrm>
            <a:off x="5897880" y="8159883"/>
            <a:ext cx="6492240" cy="0"/>
          </a:xfrm>
          <a:prstGeom prst="line">
            <a:avLst/>
          </a:prstGeom>
          <a:ln w="76200" cap="flat">
            <a:solidFill>
              <a:srgbClr val="0F4662"/>
            </a:solidFill>
            <a:prstDash val="solid"/>
            <a:headEnd type="none" w="sm" len="sm"/>
            <a:tailEnd type="none" w="sm" len="sm"/>
          </a:ln>
        </p:spPr>
      </p:sp>
      <p:sp>
        <p:nvSpPr>
          <p:cNvPr id="6" name="Freeform 6"/>
          <p:cNvSpPr/>
          <p:nvPr/>
        </p:nvSpPr>
        <p:spPr>
          <a:xfrm>
            <a:off x="8304001" y="9008400"/>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TotalTime>
  <Words>598</Words>
  <Application>Microsoft Office PowerPoint</Application>
  <PresentationFormat>Custom</PresentationFormat>
  <Paragraphs>54</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Quicksand Bold</vt:lpstr>
      <vt:lpstr>Calibri</vt:lpstr>
      <vt:lpstr>Arial</vt:lpstr>
      <vt:lpstr>Cormorant Garamond Bold Italics</vt:lpstr>
      <vt:lpstr>Quicksand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Blue Simple Modern Enhancing Sales Strategy Presentation</dc:title>
  <dc:creator>Hp</dc:creator>
  <cp:lastModifiedBy>Hp</cp:lastModifiedBy>
  <cp:revision>5</cp:revision>
  <dcterms:created xsi:type="dcterms:W3CDTF">2006-08-16T00:00:00Z</dcterms:created>
  <dcterms:modified xsi:type="dcterms:W3CDTF">2026-04-07T17:50:54Z</dcterms:modified>
  <dc:identifier>DAHB1GXuigk</dc:identifier>
</cp:coreProperties>
</file>